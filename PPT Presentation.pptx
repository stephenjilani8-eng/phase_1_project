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7"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0" d="100"/>
          <a:sy n="60" d="100"/>
        </p:scale>
        <p:origin x="2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EA4E194-7567-4454-8831-EBAFD8FC7BEB}" type="datetimeFigureOut">
              <a:rPr lang="en-US" smtClean="0"/>
              <a:t>2/3/2026</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D95FC56B-4AB7-4DC9-9363-2A642FE58387}"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096952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A4E194-7567-4454-8831-EBAFD8FC7BEB}"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FC56B-4AB7-4DC9-9363-2A642FE58387}"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995677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EA4E194-7567-4454-8831-EBAFD8FC7BEB}"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FC56B-4AB7-4DC9-9363-2A642FE58387}"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84131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EA4E194-7567-4454-8831-EBAFD8FC7BEB}"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5FC56B-4AB7-4DC9-9363-2A642FE58387}"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91990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EA4E194-7567-4454-8831-EBAFD8FC7BEB}" type="datetimeFigureOut">
              <a:rPr lang="en-US" smtClean="0"/>
              <a:t>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95FC56B-4AB7-4DC9-9363-2A642FE58387}"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294313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EA4E194-7567-4454-8831-EBAFD8FC7BEB}" type="datetimeFigureOut">
              <a:rPr lang="en-US" smtClean="0"/>
              <a:t>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95FC56B-4AB7-4DC9-9363-2A642FE58387}"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408956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A4E194-7567-4454-8831-EBAFD8FC7BEB}" type="datetimeFigureOut">
              <a:rPr lang="en-US" smtClean="0"/>
              <a:t>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95FC56B-4AB7-4DC9-9363-2A642FE58387}" type="slidenum">
              <a:rPr lang="en-US" smtClean="0"/>
              <a:t>‹#›</a:t>
            </a:fld>
            <a:endParaRPr lang="en-US"/>
          </a:p>
        </p:txBody>
      </p:sp>
    </p:spTree>
    <p:extLst>
      <p:ext uri="{BB962C8B-B14F-4D97-AF65-F5344CB8AC3E}">
        <p14:creationId xmlns:p14="http://schemas.microsoft.com/office/powerpoint/2010/main" val="1675913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EA4E194-7567-4454-8831-EBAFD8FC7BEB}"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5FC56B-4AB7-4DC9-9363-2A642FE58387}"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25253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7EA4E194-7567-4454-8831-EBAFD8FC7BEB}" type="datetimeFigureOut">
              <a:rPr lang="en-US" smtClean="0"/>
              <a:t>2/3/2026</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D95FC56B-4AB7-4DC9-9363-2A642FE58387}"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88076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A4E194-7567-4454-8831-EBAFD8FC7BEB}"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FC56B-4AB7-4DC9-9363-2A642FE58387}"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382657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A4E194-7567-4454-8831-EBAFD8FC7BEB}"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FC56B-4AB7-4DC9-9363-2A642FE58387}"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12990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7EA4E194-7567-4454-8831-EBAFD8FC7BEB}" type="datetimeFigureOut">
              <a:rPr lang="en-US" smtClean="0"/>
              <a:t>2/3/2026</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D95FC56B-4AB7-4DC9-9363-2A642FE58387}"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65014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Close up of a control panel of an airplane flying at night">
            <a:extLst>
              <a:ext uri="{FF2B5EF4-FFF2-40B4-BE49-F238E27FC236}">
                <a16:creationId xmlns:a16="http://schemas.microsoft.com/office/drawing/2014/main" id="{C53E9009-AAF9-6057-B3A9-B98C6DDDA8D7}"/>
              </a:ext>
            </a:extLst>
          </p:cNvPr>
          <p:cNvPicPr>
            <a:picLocks noChangeAspect="1"/>
          </p:cNvPicPr>
          <p:nvPr/>
        </p:nvPicPr>
        <p:blipFill>
          <a:blip r:embed="rId2">
            <a:alphaModFix/>
          </a:blip>
          <a:srcRect t="10615" b="5116"/>
          <a:stretch>
            <a:fillRect/>
          </a:stretch>
        </p:blipFill>
        <p:spPr>
          <a:xfrm>
            <a:off x="20" y="10"/>
            <a:ext cx="12191979" cy="6857990"/>
          </a:xfrm>
          <a:prstGeom prst="rect">
            <a:avLst/>
          </a:prstGeom>
        </p:spPr>
      </p:pic>
      <p:sp>
        <p:nvSpPr>
          <p:cNvPr id="2" name="Title 1">
            <a:extLst>
              <a:ext uri="{FF2B5EF4-FFF2-40B4-BE49-F238E27FC236}">
                <a16:creationId xmlns:a16="http://schemas.microsoft.com/office/drawing/2014/main" id="{A8346FF7-5EF7-8EE2-307D-4482F9164532}"/>
              </a:ext>
            </a:extLst>
          </p:cNvPr>
          <p:cNvSpPr>
            <a:spLocks noGrp="1"/>
          </p:cNvSpPr>
          <p:nvPr>
            <p:ph type="ctrTitle"/>
          </p:nvPr>
        </p:nvSpPr>
        <p:spPr>
          <a:xfrm>
            <a:off x="762000" y="1137434"/>
            <a:ext cx="7800660" cy="1520987"/>
          </a:xfrm>
        </p:spPr>
        <p:txBody>
          <a:bodyPr anchor="t">
            <a:normAutofit/>
          </a:bodyPr>
          <a:lstStyle/>
          <a:p>
            <a:pPr algn="l"/>
            <a:r>
              <a:rPr lang="en-US" sz="3400">
                <a:solidFill>
                  <a:srgbClr val="FFFFFF"/>
                </a:solidFill>
              </a:rPr>
              <a:t>PRESENTATION FOR AIRCRAFTS RISK</a:t>
            </a:r>
            <a:br>
              <a:rPr lang="en-US" sz="3400">
                <a:solidFill>
                  <a:srgbClr val="FFFFFF"/>
                </a:solidFill>
              </a:rPr>
            </a:br>
            <a:r>
              <a:rPr lang="en-US" sz="3400">
                <a:solidFill>
                  <a:srgbClr val="FFFFFF"/>
                </a:solidFill>
              </a:rPr>
              <a:t>by</a:t>
            </a:r>
            <a:br>
              <a:rPr lang="en-US" sz="3400">
                <a:solidFill>
                  <a:srgbClr val="FFFFFF"/>
                </a:solidFill>
              </a:rPr>
            </a:br>
            <a:r>
              <a:rPr lang="en-US" sz="3400">
                <a:solidFill>
                  <a:srgbClr val="FFFFFF"/>
                </a:solidFill>
              </a:rPr>
              <a:t>STEPHEN PALIA JILANI</a:t>
            </a:r>
          </a:p>
        </p:txBody>
      </p:sp>
    </p:spTree>
    <p:extLst>
      <p:ext uri="{BB962C8B-B14F-4D97-AF65-F5344CB8AC3E}">
        <p14:creationId xmlns:p14="http://schemas.microsoft.com/office/powerpoint/2010/main" val="1789493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E1740-7A2E-50F2-8AF4-8A073938B809}"/>
              </a:ext>
            </a:extLst>
          </p:cNvPr>
          <p:cNvSpPr>
            <a:spLocks noGrp="1"/>
          </p:cNvSpPr>
          <p:nvPr>
            <p:ph type="title"/>
          </p:nvPr>
        </p:nvSpPr>
        <p:spPr>
          <a:xfrm>
            <a:off x="1371600" y="762001"/>
            <a:ext cx="5334197" cy="843515"/>
          </a:xfrm>
        </p:spPr>
        <p:txBody>
          <a:bodyPr anchor="ctr">
            <a:normAutofit fontScale="90000"/>
          </a:bodyPr>
          <a:lstStyle/>
          <a:p>
            <a:r>
              <a:rPr lang="en-US" sz="4000" b="1" dirty="0"/>
              <a:t>BUSINESS  AND DATA UNDERSTANDING</a:t>
            </a:r>
          </a:p>
        </p:txBody>
      </p:sp>
      <p:sp>
        <p:nvSpPr>
          <p:cNvPr id="3" name="Content Placeholder 2">
            <a:extLst>
              <a:ext uri="{FF2B5EF4-FFF2-40B4-BE49-F238E27FC236}">
                <a16:creationId xmlns:a16="http://schemas.microsoft.com/office/drawing/2014/main" id="{238844BF-0A78-89C2-4D93-A9DCE0C09BA1}"/>
              </a:ext>
            </a:extLst>
          </p:cNvPr>
          <p:cNvSpPr>
            <a:spLocks noGrp="1"/>
          </p:cNvSpPr>
          <p:nvPr>
            <p:ph idx="1"/>
          </p:nvPr>
        </p:nvSpPr>
        <p:spPr>
          <a:xfrm>
            <a:off x="761800" y="2470244"/>
            <a:ext cx="5334197" cy="3769835"/>
          </a:xfrm>
        </p:spPr>
        <p:txBody>
          <a:bodyPr anchor="ctr">
            <a:normAutofit fontScale="92500"/>
          </a:bodyPr>
          <a:lstStyle/>
          <a:p>
            <a:r>
              <a:rPr lang="en-US" sz="1700"/>
              <a:t>This project is for an aviation company that is in the process of expanding into new industries; and is in the process of purchasing a new aircraft. What the new aviation division of the company does not understand is the potential risk associated with each plane they may aim to buy. The purpose of this project is to ascertain the aircraft that provides the company with the minimum possible risk, and to result in actionable insights that will help the aviation division decide which aircraft to purchase.</a:t>
            </a:r>
          </a:p>
          <a:p>
            <a:r>
              <a:rPr lang="en-US" sz="1700"/>
              <a:t>The data is from a CSV file that was published by the National Transport and Safety Board with details of aircraft accidents from 2018 to 2022.</a:t>
            </a:r>
          </a:p>
        </p:txBody>
      </p:sp>
      <p:pic>
        <p:nvPicPr>
          <p:cNvPr id="5" name="Picture 4" descr="Back view of an airplane">
            <a:extLst>
              <a:ext uri="{FF2B5EF4-FFF2-40B4-BE49-F238E27FC236}">
                <a16:creationId xmlns:a16="http://schemas.microsoft.com/office/drawing/2014/main" id="{F67D79C6-5A66-3B15-0D85-BF54263AC45F}"/>
              </a:ext>
            </a:extLst>
          </p:cNvPr>
          <p:cNvPicPr>
            <a:picLocks noChangeAspect="1"/>
          </p:cNvPicPr>
          <p:nvPr/>
        </p:nvPicPr>
        <p:blipFill>
          <a:blip r:embed="rId2"/>
          <a:srcRect l="18155" r="30008"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2417999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0011FAF3-C9DB-8DA7-4C4E-CE916AB120F3}"/>
              </a:ext>
            </a:extLst>
          </p:cNvPr>
          <p:cNvSpPr>
            <a:spLocks noGrp="1"/>
          </p:cNvSpPr>
          <p:nvPr>
            <p:ph type="title"/>
          </p:nvPr>
        </p:nvSpPr>
        <p:spPr>
          <a:xfrm>
            <a:off x="6379536" y="525982"/>
            <a:ext cx="5142462" cy="1200361"/>
          </a:xfrm>
        </p:spPr>
        <p:txBody>
          <a:bodyPr vert="horz" lIns="91440" tIns="45720" rIns="91440" bIns="45720" rtlCol="0" anchor="b">
            <a:normAutofit/>
          </a:bodyPr>
          <a:lstStyle/>
          <a:p>
            <a:r>
              <a:rPr lang="en-US" sz="3300" kern="1200" dirty="0">
                <a:solidFill>
                  <a:schemeClr val="tx1"/>
                </a:solidFill>
                <a:latin typeface="+mj-lt"/>
                <a:ea typeface="+mj-ea"/>
                <a:cs typeface="+mj-cs"/>
              </a:rPr>
              <a:t>NUMBER OF ACCIDENTS PER YEAR</a:t>
            </a:r>
          </a:p>
        </p:txBody>
      </p:sp>
      <p:pic>
        <p:nvPicPr>
          <p:cNvPr id="14" name="Content Placeholder 13">
            <a:extLst>
              <a:ext uri="{FF2B5EF4-FFF2-40B4-BE49-F238E27FC236}">
                <a16:creationId xmlns:a16="http://schemas.microsoft.com/office/drawing/2014/main" id="{CA3D44F5-A1FE-B882-2E96-95C980D74831}"/>
              </a:ext>
            </a:extLst>
          </p:cNvPr>
          <p:cNvPicPr>
            <a:picLocks noGrp="1" noChangeAspect="1"/>
          </p:cNvPicPr>
          <p:nvPr>
            <p:ph sz="half" idx="1"/>
          </p:nvPr>
        </p:nvPicPr>
        <p:blipFill>
          <a:blip r:embed="rId2"/>
          <a:stretch>
            <a:fillRect/>
          </a:stretch>
        </p:blipFill>
        <p:spPr>
          <a:xfrm>
            <a:off x="576244" y="1068393"/>
            <a:ext cx="5628018" cy="4488343"/>
          </a:xfrm>
          <a:prstGeom prst="rect">
            <a:avLst/>
          </a:prstGeom>
        </p:spPr>
      </p:pic>
      <p:sp>
        <p:nvSpPr>
          <p:cNvPr id="12" name="Content Placeholder 11">
            <a:extLst>
              <a:ext uri="{FF2B5EF4-FFF2-40B4-BE49-F238E27FC236}">
                <a16:creationId xmlns:a16="http://schemas.microsoft.com/office/drawing/2014/main" id="{BDA1156A-9EF9-69A1-7BEC-5EF5334C5271}"/>
              </a:ext>
            </a:extLst>
          </p:cNvPr>
          <p:cNvSpPr>
            <a:spLocks noGrp="1"/>
          </p:cNvSpPr>
          <p:nvPr>
            <p:ph sz="half" idx="2"/>
          </p:nvPr>
        </p:nvSpPr>
        <p:spPr>
          <a:xfrm>
            <a:off x="7239012" y="2031101"/>
            <a:ext cx="4282984" cy="3511943"/>
          </a:xfrm>
        </p:spPr>
        <p:txBody>
          <a:bodyPr vert="horz" lIns="91440" tIns="45720" rIns="91440" bIns="45720" rtlCol="0" anchor="ctr">
            <a:normAutofit/>
          </a:bodyPr>
          <a:lstStyle/>
          <a:p>
            <a:pPr marL="0"/>
            <a:r>
              <a:rPr lang="en-US" sz="1800"/>
              <a:t>The graph is representative of the number of accidents that have occurred over the years in the dataset. This indicates that accidents were at their lowest in 2021 making it the best year for management to consider while making the decision on the safest aircrafts.</a:t>
            </a:r>
          </a:p>
        </p:txBody>
      </p:sp>
    </p:spTree>
    <p:extLst>
      <p:ext uri="{BB962C8B-B14F-4D97-AF65-F5344CB8AC3E}">
        <p14:creationId xmlns:p14="http://schemas.microsoft.com/office/powerpoint/2010/main" val="23900103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AAD78-35AD-12A1-7E28-49A4B5180858}"/>
              </a:ext>
            </a:extLst>
          </p:cNvPr>
          <p:cNvSpPr>
            <a:spLocks noGrp="1"/>
          </p:cNvSpPr>
          <p:nvPr>
            <p:ph type="title"/>
          </p:nvPr>
        </p:nvSpPr>
        <p:spPr>
          <a:xfrm>
            <a:off x="6597016" y="905011"/>
            <a:ext cx="4589328" cy="1889135"/>
          </a:xfrm>
        </p:spPr>
        <p:txBody>
          <a:bodyPr vert="horz" lIns="91440" tIns="45720" rIns="91440" bIns="45720" rtlCol="0" anchor="b">
            <a:normAutofit/>
          </a:bodyPr>
          <a:lstStyle/>
          <a:p>
            <a:r>
              <a:rPr lang="en-US" sz="4100" kern="1200">
                <a:solidFill>
                  <a:schemeClr val="tx1"/>
                </a:solidFill>
                <a:latin typeface="+mj-lt"/>
                <a:ea typeface="+mj-ea"/>
                <a:cs typeface="+mj-cs"/>
              </a:rPr>
              <a:t>LEAST ACCIDENTS PER AIRCRAFT TYPE</a:t>
            </a:r>
          </a:p>
        </p:txBody>
      </p:sp>
      <p:pic>
        <p:nvPicPr>
          <p:cNvPr id="6" name="Content Placeholder 5">
            <a:extLst>
              <a:ext uri="{FF2B5EF4-FFF2-40B4-BE49-F238E27FC236}">
                <a16:creationId xmlns:a16="http://schemas.microsoft.com/office/drawing/2014/main" id="{80328BC1-29A5-8379-4987-DD4A1ACADA02}"/>
              </a:ext>
            </a:extLst>
          </p:cNvPr>
          <p:cNvPicPr>
            <a:picLocks noGrp="1" noChangeAspect="1"/>
          </p:cNvPicPr>
          <p:nvPr>
            <p:ph sz="half" idx="1"/>
          </p:nvPr>
        </p:nvPicPr>
        <p:blipFill>
          <a:blip r:embed="rId3"/>
          <a:stretch>
            <a:fillRect/>
          </a:stretch>
        </p:blipFill>
        <p:spPr>
          <a:xfrm>
            <a:off x="720807" y="1708926"/>
            <a:ext cx="5468347" cy="3431387"/>
          </a:xfrm>
          <a:prstGeom prst="rect">
            <a:avLst/>
          </a:prstGeom>
        </p:spPr>
      </p:pic>
      <p:sp>
        <p:nvSpPr>
          <p:cNvPr id="4" name="Content Placeholder 3">
            <a:extLst>
              <a:ext uri="{FF2B5EF4-FFF2-40B4-BE49-F238E27FC236}">
                <a16:creationId xmlns:a16="http://schemas.microsoft.com/office/drawing/2014/main" id="{8E3BCF9A-4D86-F781-D9A0-66F74F32A07B}"/>
              </a:ext>
            </a:extLst>
          </p:cNvPr>
          <p:cNvSpPr>
            <a:spLocks noGrp="1"/>
          </p:cNvSpPr>
          <p:nvPr>
            <p:ph sz="half" idx="2"/>
          </p:nvPr>
        </p:nvSpPr>
        <p:spPr>
          <a:xfrm>
            <a:off x="6597016" y="2965592"/>
            <a:ext cx="4589328" cy="2987397"/>
          </a:xfrm>
        </p:spPr>
        <p:txBody>
          <a:bodyPr vert="horz" lIns="91440" tIns="45720" rIns="91440" bIns="45720" rtlCol="0">
            <a:normAutofit/>
          </a:bodyPr>
          <a:lstStyle/>
          <a:p>
            <a:pPr marL="0"/>
            <a:r>
              <a:rPr lang="en-US" sz="1800"/>
              <a:t>Above is a graph of aircraft types with the minimum number of accidents in the period covered by the data. This has been limited to the bottom 5 in the dataset. This plus other factors will need to be put into consideration when making a decision as all 5 aircrafts have the same number of accidents in the  period covered.</a:t>
            </a:r>
          </a:p>
        </p:txBody>
      </p:sp>
    </p:spTree>
    <p:extLst>
      <p:ext uri="{BB962C8B-B14F-4D97-AF65-F5344CB8AC3E}">
        <p14:creationId xmlns:p14="http://schemas.microsoft.com/office/powerpoint/2010/main" val="40945220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F5C9E81-62AA-7A5A-3886-28FA3796CC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FBBE6E-511A-7B18-0A87-114AA4232D16}"/>
              </a:ext>
            </a:extLst>
          </p:cNvPr>
          <p:cNvSpPr>
            <a:spLocks noGrp="1"/>
          </p:cNvSpPr>
          <p:nvPr>
            <p:ph type="title"/>
          </p:nvPr>
        </p:nvSpPr>
        <p:spPr>
          <a:xfrm>
            <a:off x="6347637" y="905011"/>
            <a:ext cx="4838707" cy="1008849"/>
          </a:xfrm>
        </p:spPr>
        <p:txBody>
          <a:bodyPr vert="horz" lIns="91440" tIns="45720" rIns="91440" bIns="45720" rtlCol="0" anchor="b">
            <a:normAutofit fontScale="90000"/>
          </a:bodyPr>
          <a:lstStyle/>
          <a:p>
            <a:r>
              <a:rPr lang="en-US" sz="4100" kern="1200" dirty="0">
                <a:solidFill>
                  <a:schemeClr val="tx1"/>
                </a:solidFill>
                <a:latin typeface="+mj-lt"/>
                <a:ea typeface="+mj-ea"/>
                <a:cs typeface="+mj-cs"/>
              </a:rPr>
              <a:t>AIRCRAFT TYPES WITH LEAST FATALITIES</a:t>
            </a:r>
          </a:p>
        </p:txBody>
      </p:sp>
      <p:pic>
        <p:nvPicPr>
          <p:cNvPr id="8" name="Content Placeholder 7">
            <a:extLst>
              <a:ext uri="{FF2B5EF4-FFF2-40B4-BE49-F238E27FC236}">
                <a16:creationId xmlns:a16="http://schemas.microsoft.com/office/drawing/2014/main" id="{B4A6C259-2B39-E0E6-CD06-933A24893359}"/>
              </a:ext>
            </a:extLst>
          </p:cNvPr>
          <p:cNvPicPr>
            <a:picLocks noGrp="1" noChangeAspect="1"/>
          </p:cNvPicPr>
          <p:nvPr>
            <p:ph sz="half" idx="1"/>
          </p:nvPr>
        </p:nvPicPr>
        <p:blipFill>
          <a:blip r:embed="rId2"/>
          <a:stretch>
            <a:fillRect/>
          </a:stretch>
        </p:blipFill>
        <p:spPr>
          <a:xfrm>
            <a:off x="728285" y="895610"/>
            <a:ext cx="5453391" cy="5058020"/>
          </a:xfrm>
          <a:prstGeom prst="rect">
            <a:avLst/>
          </a:prstGeom>
        </p:spPr>
      </p:pic>
      <p:sp>
        <p:nvSpPr>
          <p:cNvPr id="4" name="Content Placeholder 3">
            <a:extLst>
              <a:ext uri="{FF2B5EF4-FFF2-40B4-BE49-F238E27FC236}">
                <a16:creationId xmlns:a16="http://schemas.microsoft.com/office/drawing/2014/main" id="{E31E015F-E4DB-350E-9714-00321027BE1E}"/>
              </a:ext>
            </a:extLst>
          </p:cNvPr>
          <p:cNvSpPr>
            <a:spLocks noGrp="1"/>
          </p:cNvSpPr>
          <p:nvPr>
            <p:ph sz="half" idx="2"/>
          </p:nvPr>
        </p:nvSpPr>
        <p:spPr>
          <a:xfrm>
            <a:off x="6597016" y="2965592"/>
            <a:ext cx="4589328" cy="2987397"/>
          </a:xfrm>
        </p:spPr>
        <p:txBody>
          <a:bodyPr vert="horz" lIns="91440" tIns="45720" rIns="91440" bIns="45720" rtlCol="0">
            <a:normAutofit lnSpcReduction="10000"/>
          </a:bodyPr>
          <a:lstStyle/>
          <a:p>
            <a:pPr marL="0"/>
            <a:r>
              <a:rPr lang="en-US" sz="1800" dirty="0"/>
              <a:t>Above is a graph of aircraft types with the minimum number of fatalities in the period covered. This forms another basis for decision making but comes second to the aircrafts that have least accidents. This is because for an aircraft to have the least fatalities, it has to have an accident first and that is inferior to an aircraft that rarely has accidents in the first place.</a:t>
            </a:r>
          </a:p>
          <a:p>
            <a:pPr marL="0"/>
            <a:endParaRPr lang="en-US" sz="1800" dirty="0"/>
          </a:p>
        </p:txBody>
      </p:sp>
    </p:spTree>
    <p:extLst>
      <p:ext uri="{BB962C8B-B14F-4D97-AF65-F5344CB8AC3E}">
        <p14:creationId xmlns:p14="http://schemas.microsoft.com/office/powerpoint/2010/main" val="33884265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2E0A59-968D-5589-51BE-4577B36FEB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67CE18-E854-9A3F-033B-6B9BFDD82F50}"/>
              </a:ext>
            </a:extLst>
          </p:cNvPr>
          <p:cNvSpPr>
            <a:spLocks noGrp="1"/>
          </p:cNvSpPr>
          <p:nvPr>
            <p:ph type="title"/>
          </p:nvPr>
        </p:nvSpPr>
        <p:spPr>
          <a:xfrm>
            <a:off x="6273209" y="905011"/>
            <a:ext cx="4913135" cy="1083277"/>
          </a:xfrm>
        </p:spPr>
        <p:txBody>
          <a:bodyPr vert="horz" lIns="91440" tIns="45720" rIns="91440" bIns="45720" rtlCol="0" anchor="b">
            <a:normAutofit fontScale="90000"/>
          </a:bodyPr>
          <a:lstStyle/>
          <a:p>
            <a:r>
              <a:rPr lang="en-US" sz="4100" kern="1200" dirty="0">
                <a:solidFill>
                  <a:schemeClr val="tx1"/>
                </a:solidFill>
                <a:latin typeface="+mj-lt"/>
                <a:ea typeface="+mj-ea"/>
                <a:cs typeface="+mj-cs"/>
              </a:rPr>
              <a:t>AIRCRAFT TYPES WITH MOST ACCIDENTS</a:t>
            </a:r>
          </a:p>
        </p:txBody>
      </p:sp>
      <p:pic>
        <p:nvPicPr>
          <p:cNvPr id="7" name="Content Placeholder 6">
            <a:extLst>
              <a:ext uri="{FF2B5EF4-FFF2-40B4-BE49-F238E27FC236}">
                <a16:creationId xmlns:a16="http://schemas.microsoft.com/office/drawing/2014/main" id="{065D71F2-C3CA-D16F-BDFF-5AF033203F77}"/>
              </a:ext>
            </a:extLst>
          </p:cNvPr>
          <p:cNvPicPr>
            <a:picLocks noGrp="1" noChangeAspect="1"/>
          </p:cNvPicPr>
          <p:nvPr>
            <p:ph sz="half" idx="1"/>
          </p:nvPr>
        </p:nvPicPr>
        <p:blipFill>
          <a:blip r:embed="rId2"/>
          <a:stretch>
            <a:fillRect/>
          </a:stretch>
        </p:blipFill>
        <p:spPr>
          <a:xfrm>
            <a:off x="838200" y="1222744"/>
            <a:ext cx="5181600" cy="4598429"/>
          </a:xfrm>
          <a:prstGeom prst="rect">
            <a:avLst/>
          </a:prstGeom>
        </p:spPr>
      </p:pic>
      <p:sp>
        <p:nvSpPr>
          <p:cNvPr id="4" name="Content Placeholder 3">
            <a:extLst>
              <a:ext uri="{FF2B5EF4-FFF2-40B4-BE49-F238E27FC236}">
                <a16:creationId xmlns:a16="http://schemas.microsoft.com/office/drawing/2014/main" id="{43EB1FA2-2584-9B1F-F798-3ABF8B264F4A}"/>
              </a:ext>
            </a:extLst>
          </p:cNvPr>
          <p:cNvSpPr>
            <a:spLocks noGrp="1"/>
          </p:cNvSpPr>
          <p:nvPr>
            <p:ph sz="half" idx="2"/>
          </p:nvPr>
        </p:nvSpPr>
        <p:spPr>
          <a:xfrm>
            <a:off x="6597016" y="2965592"/>
            <a:ext cx="4589328" cy="2987397"/>
          </a:xfrm>
        </p:spPr>
        <p:txBody>
          <a:bodyPr vert="horz" lIns="91440" tIns="45720" rIns="91440" bIns="45720" rtlCol="0">
            <a:normAutofit/>
          </a:bodyPr>
          <a:lstStyle/>
          <a:p>
            <a:pPr marL="0"/>
            <a:r>
              <a:rPr lang="en-US" sz="1800" dirty="0"/>
              <a:t>Above is a graph of aircraft types with the maximum accidents in the period covered. This was an extra dashboard that was prepared to give stakeholders a spread of the difference between the aircrafts that have had the least accidents and the ones that have had the most accidents.</a:t>
            </a:r>
          </a:p>
        </p:txBody>
      </p:sp>
    </p:spTree>
    <p:extLst>
      <p:ext uri="{BB962C8B-B14F-4D97-AF65-F5344CB8AC3E}">
        <p14:creationId xmlns:p14="http://schemas.microsoft.com/office/powerpoint/2010/main" val="10222238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70CEF-A4C0-6ED5-4F76-E82728D18372}"/>
              </a:ext>
            </a:extLst>
          </p:cNvPr>
          <p:cNvSpPr>
            <a:spLocks noGrp="1"/>
          </p:cNvSpPr>
          <p:nvPr>
            <p:ph type="title"/>
          </p:nvPr>
        </p:nvSpPr>
        <p:spPr>
          <a:xfrm>
            <a:off x="838200" y="365126"/>
            <a:ext cx="10515600" cy="687497"/>
          </a:xfrm>
        </p:spPr>
        <p:txBody>
          <a:bodyPr anchor="ctr">
            <a:normAutofit/>
          </a:bodyPr>
          <a:lstStyle/>
          <a:p>
            <a:r>
              <a:rPr lang="en-US" sz="4000" dirty="0"/>
              <a:t>INSIGHTS AND RECOMMENDATIONS</a:t>
            </a:r>
          </a:p>
        </p:txBody>
      </p:sp>
      <p:sp>
        <p:nvSpPr>
          <p:cNvPr id="4" name="Rectangle 1">
            <a:extLst>
              <a:ext uri="{FF2B5EF4-FFF2-40B4-BE49-F238E27FC236}">
                <a16:creationId xmlns:a16="http://schemas.microsoft.com/office/drawing/2014/main" id="{39320BFF-AF7A-2E3B-AEC0-175E132C25F2}"/>
              </a:ext>
            </a:extLst>
          </p:cNvPr>
          <p:cNvSpPr>
            <a:spLocks noGrp="1" noChangeArrowheads="1"/>
          </p:cNvSpPr>
          <p:nvPr>
            <p:ph sz="half" idx="1"/>
          </p:nvPr>
        </p:nvSpPr>
        <p:spPr bwMode="auto">
          <a:xfrm>
            <a:off x="838199" y="2083981"/>
            <a:ext cx="10262191" cy="409298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lnSpcReduction="10000"/>
          </a:bodyPr>
          <a:lstStyle/>
          <a:p>
            <a:pPr marL="342900" lvl="0" indent="-342900" eaLnBrk="0" fontAlgn="base" hangingPunct="0">
              <a:spcBef>
                <a:spcPct val="0"/>
              </a:spcBef>
              <a:spcAft>
                <a:spcPts val="600"/>
              </a:spcAft>
              <a:buAutoNum type="arabicPeriod"/>
            </a:pPr>
            <a:r>
              <a:rPr lang="en-US" sz="1800" b="1" dirty="0"/>
              <a:t>Yearly Accidents:</a:t>
            </a:r>
            <a:r>
              <a:rPr lang="en-US" sz="1800" dirty="0"/>
              <a:t> </a:t>
            </a:r>
            <a:r>
              <a:rPr kumimoji="0" lang="en-US" altLang="en-US" sz="1700" b="0" i="0" u="none" strike="noStrike" cap="none" normalizeH="0" baseline="0" dirty="0">
                <a:ln>
                  <a:noFill/>
                </a:ln>
                <a:effectLst/>
                <a:latin typeface="Arial" panose="020B0604020202020204" pitchFamily="34" charset="0"/>
              </a:rPr>
              <a:t>2021 had the fewest accidents making it the best year for management to make a decision regarding the best candidate for the aircraft. The recommendation is to use this year as reference as it indicates that flights were the safest.</a:t>
            </a:r>
          </a:p>
          <a:p>
            <a:pPr marL="342900" lvl="0" indent="-342900" eaLnBrk="0" fontAlgn="base" hangingPunct="0">
              <a:spcBef>
                <a:spcPct val="0"/>
              </a:spcBef>
              <a:spcAft>
                <a:spcPts val="600"/>
              </a:spcAft>
              <a:buAutoNum type="arabicPeriod"/>
            </a:pPr>
            <a:r>
              <a:rPr lang="en-US" sz="1800" b="1" dirty="0"/>
              <a:t>Aircraft with Least Accidents:</a:t>
            </a:r>
            <a:r>
              <a:rPr lang="en-US" sz="1800" dirty="0"/>
              <a:t> Bottom 5 aircraft types that had the fewest accidents form the ideal candidates for management’s selection. Factoring other factors like cost, and maintenance expenses, these aircrafts can be the best candidates for purchase.</a:t>
            </a:r>
          </a:p>
          <a:p>
            <a:pPr marL="342900" lvl="0" indent="-342900" eaLnBrk="0" fontAlgn="base" hangingPunct="0">
              <a:spcBef>
                <a:spcPct val="0"/>
              </a:spcBef>
              <a:spcAft>
                <a:spcPts val="600"/>
              </a:spcAft>
              <a:buAutoNum type="arabicPeriod"/>
            </a:pPr>
            <a:r>
              <a:rPr lang="en-US" sz="1800" b="1" dirty="0"/>
              <a:t>Aircraft with Least Fatalities:</a:t>
            </a:r>
            <a:r>
              <a:rPr lang="en-US" sz="1800" dirty="0"/>
              <a:t> Bottom 5 aircraft types that caused the fewest fatalities, showing strong safety performance in challenging situations come second in being good candidates. This is an alternative approach to choosing the best candidate. However, similar factors as mentioned above need to be put into consideration.</a:t>
            </a:r>
          </a:p>
          <a:p>
            <a:pPr marL="342900" lvl="0" indent="-342900" eaLnBrk="0" fontAlgn="base" hangingPunct="0">
              <a:spcBef>
                <a:spcPct val="0"/>
              </a:spcBef>
              <a:spcAft>
                <a:spcPts val="600"/>
              </a:spcAft>
              <a:buAutoNum type="arabicPeriod"/>
            </a:pPr>
            <a:r>
              <a:rPr lang="en-US" sz="1800" b="1" dirty="0"/>
              <a:t>Aircraft with Most Accidents:</a:t>
            </a:r>
            <a:r>
              <a:rPr lang="en-US" sz="1800" dirty="0"/>
              <a:t> Maximum accident aircraft highlight risk spread, emphasizing management’s role in choosing low-risk aircraft.</a:t>
            </a:r>
          </a:p>
          <a:p>
            <a:pPr marL="0" lvl="0" indent="0" eaLnBrk="0" fontAlgn="base" hangingPunct="0">
              <a:spcBef>
                <a:spcPct val="0"/>
              </a:spcBef>
              <a:spcAft>
                <a:spcPts val="600"/>
              </a:spcAft>
              <a:buNone/>
            </a:pPr>
            <a:endParaRPr kumimoji="0" lang="en-US" altLang="en-US" sz="17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2413610824"/>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43</TotalTime>
  <Words>549</Words>
  <Application>Microsoft Office PowerPoint</Application>
  <PresentationFormat>Widescreen</PresentationFormat>
  <Paragraphs>17</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Gill Sans MT</vt:lpstr>
      <vt:lpstr>Gallery</vt:lpstr>
      <vt:lpstr>PRESENTATION FOR AIRCRAFTS RISK by STEPHEN PALIA JILANI</vt:lpstr>
      <vt:lpstr>BUSINESS  AND DATA UNDERSTANDING</vt:lpstr>
      <vt:lpstr>NUMBER OF ACCIDENTS PER YEAR</vt:lpstr>
      <vt:lpstr>LEAST ACCIDENTS PER AIRCRAFT TYPE</vt:lpstr>
      <vt:lpstr>AIRCRAFT TYPES WITH LEAST FATALITIES</vt:lpstr>
      <vt:lpstr>AIRCRAFT TYPES WITH MOST ACCIDENTS</vt:lpstr>
      <vt:lpstr>INSIGHTS AND 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stephen jilani</dc:creator>
  <cp:lastModifiedBy>stephen jilani</cp:lastModifiedBy>
  <cp:revision>2</cp:revision>
  <dcterms:created xsi:type="dcterms:W3CDTF">2026-02-03T09:27:46Z</dcterms:created>
  <dcterms:modified xsi:type="dcterms:W3CDTF">2026-02-03T10:11:21Z</dcterms:modified>
</cp:coreProperties>
</file>